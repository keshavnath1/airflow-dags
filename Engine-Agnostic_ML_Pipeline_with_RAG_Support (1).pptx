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image" Target="../media/image-5-13.png"/><Relationship Id="rId14" Type="http://schemas.openxmlformats.org/officeDocument/2006/relationships/image" Target="../media/image-5-14.png"/><Relationship Id="rId15" Type="http://schemas.openxmlformats.org/officeDocument/2006/relationships/image" Target="../media/image-5-15.png"/><Relationship Id="rId16" Type="http://schemas.openxmlformats.org/officeDocument/2006/relationships/image" Target="../media/image-5-16.png"/><Relationship Id="rId17" Type="http://schemas.openxmlformats.org/officeDocument/2006/relationships/image" Target="../media/image-5-17.pn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7089" y="689372"/>
            <a:ext cx="7949794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Engine-Agnostic ML Pipeline with RAG Support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1714500" y="1346597"/>
            <a:ext cx="5715000" cy="12001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575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 comprehensive framework for training, evaluating, and deploying both traditional ML and Retrieval-Augmented Generation models using multiple distributed computing engines</a:t>
            </a:r>
            <a:endParaRPr lang="en-US" sz="1575" dirty="0"/>
          </a:p>
        </p:txBody>
      </p:sp>
      <p:sp>
        <p:nvSpPr>
          <p:cNvPr id="5" name="Shape 2"/>
          <p:cNvSpPr/>
          <p:nvPr/>
        </p:nvSpPr>
        <p:spPr>
          <a:xfrm>
            <a:off x="2000250" y="2975372"/>
            <a:ext cx="1571625" cy="1478756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8906" y="3125391"/>
            <a:ext cx="214313" cy="1714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107406" y="3411141"/>
            <a:ext cx="135731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4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Multi-Engine Support</a:t>
            </a:r>
            <a:endParaRPr lang="en-US" sz="942" dirty="0"/>
          </a:p>
        </p:txBody>
      </p:sp>
      <p:sp>
        <p:nvSpPr>
          <p:cNvPr id="8" name="Text 4"/>
          <p:cNvSpPr/>
          <p:nvPr/>
        </p:nvSpPr>
        <p:spPr>
          <a:xfrm>
            <a:off x="2107406" y="3639741"/>
            <a:ext cx="1357313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Dask, Spark, Ray integration for distributed computing</a:t>
            </a:r>
            <a:endParaRPr lang="en-US" sz="837" dirty="0"/>
          </a:p>
        </p:txBody>
      </p:sp>
      <p:sp>
        <p:nvSpPr>
          <p:cNvPr id="9" name="Shape 5"/>
          <p:cNvSpPr/>
          <p:nvPr/>
        </p:nvSpPr>
        <p:spPr>
          <a:xfrm>
            <a:off x="3786188" y="2975372"/>
            <a:ext cx="1571625" cy="1478756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6275" y="3125391"/>
            <a:ext cx="171450" cy="17145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893344" y="3411141"/>
            <a:ext cx="135731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4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Advanced RAG Types</a:t>
            </a:r>
            <a:endParaRPr lang="en-US" sz="942" dirty="0"/>
          </a:p>
        </p:txBody>
      </p:sp>
      <p:sp>
        <p:nvSpPr>
          <p:cNvPr id="12" name="Text 7"/>
          <p:cNvSpPr/>
          <p:nvPr/>
        </p:nvSpPr>
        <p:spPr>
          <a:xfrm>
            <a:off x="3893344" y="3639741"/>
            <a:ext cx="1357313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Adaptive, Corrective, and Self-RAG implementations</a:t>
            </a:r>
            <a:endParaRPr lang="en-US" sz="837" dirty="0"/>
          </a:p>
        </p:txBody>
      </p:sp>
      <p:sp>
        <p:nvSpPr>
          <p:cNvPr id="13" name="Shape 8"/>
          <p:cNvSpPr/>
          <p:nvPr/>
        </p:nvSpPr>
        <p:spPr>
          <a:xfrm>
            <a:off x="5572125" y="2975372"/>
            <a:ext cx="1571625" cy="1478756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2213" y="3125391"/>
            <a:ext cx="171450" cy="17145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679281" y="3411141"/>
            <a:ext cx="1357313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4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Comprehensive Evaluation</a:t>
            </a:r>
            <a:endParaRPr lang="en-US" sz="942" dirty="0"/>
          </a:p>
        </p:txBody>
      </p:sp>
      <p:sp>
        <p:nvSpPr>
          <p:cNvPr id="16" name="Text 10"/>
          <p:cNvSpPr/>
          <p:nvPr/>
        </p:nvSpPr>
        <p:spPr>
          <a:xfrm>
            <a:off x="5679281" y="3832622"/>
            <a:ext cx="1357313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Robust metrics for RAG and code generation assessment</a:t>
            </a:r>
            <a:endParaRPr lang="en-US" sz="837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4938" y="2643188"/>
            <a:ext cx="3571875" cy="214312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12219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2887052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025" b="1" dirty="0">
                <a:solidFill>
                  <a:srgbClr val="0066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Architecture Overview</a:t>
            </a:r>
            <a:endParaRPr lang="en-US" sz="2025" dirty="0"/>
          </a:p>
        </p:txBody>
      </p:sp>
      <p:sp>
        <p:nvSpPr>
          <p:cNvPr id="4" name="Text 1"/>
          <p:cNvSpPr/>
          <p:nvPr/>
        </p:nvSpPr>
        <p:spPr>
          <a:xfrm>
            <a:off x="285750" y="885825"/>
            <a:ext cx="41433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066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Layered Architecture</a:t>
            </a:r>
            <a:endParaRPr lang="en-US" sz="13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1250156"/>
            <a:ext cx="4143375" cy="28575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285750" y="4393406"/>
            <a:ext cx="4143375" cy="1150144"/>
          </a:xfrm>
          <a:prstGeom prst="rect">
            <a:avLst/>
          </a:prstGeom>
          <a:solidFill>
            <a:srgbClr val="F0F7FF"/>
          </a:solidFill>
          <a:ln/>
        </p:spPr>
      </p:sp>
      <p:sp>
        <p:nvSpPr>
          <p:cNvPr id="7" name="Shape 3"/>
          <p:cNvSpPr/>
          <p:nvPr/>
        </p:nvSpPr>
        <p:spPr>
          <a:xfrm>
            <a:off x="285750" y="4393406"/>
            <a:ext cx="28575" cy="1150144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8" name="Text 4"/>
          <p:cNvSpPr/>
          <p:nvPr/>
        </p:nvSpPr>
        <p:spPr>
          <a:xfrm>
            <a:off x="392906" y="4500563"/>
            <a:ext cx="392906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0066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Key Design Principles</a:t>
            </a:r>
            <a:endParaRPr lang="en-US" sz="942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906" y="4814888"/>
            <a:ext cx="142875" cy="14287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07219" y="4764881"/>
            <a:ext cx="2717081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Backward compatibility with existing pipeline</a:t>
            </a:r>
            <a:endParaRPr lang="en-US" sz="942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906" y="5150644"/>
            <a:ext cx="142875" cy="142875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07219" y="5100638"/>
            <a:ext cx="2138549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Consistent interface across engines</a:t>
            </a:r>
            <a:endParaRPr lang="en-US" sz="942" dirty="0"/>
          </a:p>
        </p:txBody>
      </p:sp>
      <p:sp>
        <p:nvSpPr>
          <p:cNvPr id="13" name="Text 7"/>
          <p:cNvSpPr/>
          <p:nvPr/>
        </p:nvSpPr>
        <p:spPr>
          <a:xfrm>
            <a:off x="4714875" y="885825"/>
            <a:ext cx="41433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066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Engine-Agnostic Design</a:t>
            </a:r>
            <a:endParaRPr lang="en-US" sz="135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4875" y="1300163"/>
            <a:ext cx="142875" cy="142875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4929188" y="1259086"/>
            <a:ext cx="116077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Application Layer:</a:t>
            </a:r>
            <a:endParaRPr lang="en-US" sz="942" dirty="0"/>
          </a:p>
        </p:txBody>
      </p:sp>
      <p:sp>
        <p:nvSpPr>
          <p:cNvPr id="16" name="Text 9"/>
          <p:cNvSpPr/>
          <p:nvPr/>
        </p:nvSpPr>
        <p:spPr>
          <a:xfrm>
            <a:off x="6089963" y="1259086"/>
            <a:ext cx="2571387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Command-line interface and Airflow DAGs</a:t>
            </a:r>
            <a:endParaRPr lang="en-US" sz="942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14875" y="1635919"/>
            <a:ext cx="142875" cy="142875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4929188" y="1594842"/>
            <a:ext cx="887527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Trainer Layer:</a:t>
            </a:r>
            <a:endParaRPr lang="en-US" sz="942" dirty="0"/>
          </a:p>
        </p:txBody>
      </p:sp>
      <p:sp>
        <p:nvSpPr>
          <p:cNvPr id="19" name="Text 11"/>
          <p:cNvSpPr/>
          <p:nvPr/>
        </p:nvSpPr>
        <p:spPr>
          <a:xfrm>
            <a:off x="5816715" y="1594842"/>
            <a:ext cx="259915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Abstract base classes and factory methods</a:t>
            </a:r>
            <a:endParaRPr lang="en-US" sz="942" dirty="0"/>
          </a:p>
        </p:txBody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14875" y="1971675"/>
            <a:ext cx="142875" cy="142875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4929188" y="1930598"/>
            <a:ext cx="86553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Engine Layer:</a:t>
            </a:r>
            <a:endParaRPr lang="en-US" sz="942" dirty="0"/>
          </a:p>
        </p:txBody>
      </p:sp>
      <p:sp>
        <p:nvSpPr>
          <p:cNvPr id="22" name="Text 13"/>
          <p:cNvSpPr/>
          <p:nvPr/>
        </p:nvSpPr>
        <p:spPr>
          <a:xfrm>
            <a:off x="5794725" y="1930598"/>
            <a:ext cx="235174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Dask, Spark, and Ray implementations</a:t>
            </a:r>
            <a:endParaRPr lang="en-US" sz="942" dirty="0"/>
          </a:p>
        </p:txBody>
      </p:sp>
      <p:pic>
        <p:nvPicPr>
          <p:cNvPr id="2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14875" y="2307431"/>
            <a:ext cx="142875" cy="142875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4929188" y="2266355"/>
            <a:ext cx="111127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Evaluation Layer:</a:t>
            </a:r>
            <a:endParaRPr lang="en-US" sz="942" dirty="0"/>
          </a:p>
        </p:txBody>
      </p:sp>
      <p:sp>
        <p:nvSpPr>
          <p:cNvPr id="25" name="Text 15"/>
          <p:cNvSpPr/>
          <p:nvPr/>
        </p:nvSpPr>
        <p:spPr>
          <a:xfrm>
            <a:off x="6040459" y="2266355"/>
            <a:ext cx="215230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Comprehensive metrics framework</a:t>
            </a:r>
            <a:endParaRPr lang="en-US" sz="942" dirty="0"/>
          </a:p>
        </p:txBody>
      </p:sp>
      <p:pic>
        <p:nvPicPr>
          <p:cNvPr id="2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14875" y="2643188"/>
            <a:ext cx="142875" cy="142875"/>
          </a:xfrm>
          <a:prstGeom prst="rect">
            <a:avLst/>
          </a:prstGeom>
        </p:spPr>
      </p:pic>
      <p:sp>
        <p:nvSpPr>
          <p:cNvPr id="27" name="Text 16"/>
          <p:cNvSpPr/>
          <p:nvPr/>
        </p:nvSpPr>
        <p:spPr>
          <a:xfrm>
            <a:off x="4929188" y="2602111"/>
            <a:ext cx="1346457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Infrastructure Layer:</a:t>
            </a:r>
            <a:endParaRPr lang="en-US" sz="942" dirty="0"/>
          </a:p>
        </p:txBody>
      </p:sp>
      <p:sp>
        <p:nvSpPr>
          <p:cNvPr id="28" name="Text 17"/>
          <p:cNvSpPr/>
          <p:nvPr/>
        </p:nvSpPr>
        <p:spPr>
          <a:xfrm>
            <a:off x="6275645" y="2602111"/>
            <a:ext cx="190311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Docker containers and security</a:t>
            </a:r>
            <a:endParaRPr lang="en-US" sz="942" dirty="0"/>
          </a:p>
        </p:txBody>
      </p:sp>
      <p:sp>
        <p:nvSpPr>
          <p:cNvPr id="29" name="Text 18"/>
          <p:cNvSpPr/>
          <p:nvPr/>
        </p:nvSpPr>
        <p:spPr>
          <a:xfrm>
            <a:off x="4714875" y="3143250"/>
            <a:ext cx="41433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066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RAG Integration</a:t>
            </a:r>
            <a:endParaRPr lang="en-US" sz="1350" dirty="0"/>
          </a:p>
        </p:txBody>
      </p:sp>
      <p:pic>
        <p:nvPicPr>
          <p:cNvPr id="3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14875" y="3557588"/>
            <a:ext cx="142875" cy="142875"/>
          </a:xfrm>
          <a:prstGeom prst="rect">
            <a:avLst/>
          </a:prstGeom>
        </p:spPr>
      </p:pic>
      <p:sp>
        <p:nvSpPr>
          <p:cNvPr id="31" name="Text 19"/>
          <p:cNvSpPr/>
          <p:nvPr/>
        </p:nvSpPr>
        <p:spPr>
          <a:xfrm>
            <a:off x="4929188" y="3507581"/>
            <a:ext cx="3217534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Extended trainer interface with RAG-specific methods</a:t>
            </a:r>
            <a:endParaRPr lang="en-US" sz="942" dirty="0"/>
          </a:p>
        </p:txBody>
      </p:sp>
      <p:pic>
        <p:nvPicPr>
          <p:cNvPr id="3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14875" y="3893344"/>
            <a:ext cx="142875" cy="142875"/>
          </a:xfrm>
          <a:prstGeom prst="rect">
            <a:avLst/>
          </a:prstGeom>
        </p:spPr>
      </p:pic>
      <p:sp>
        <p:nvSpPr>
          <p:cNvPr id="33" name="Text 20"/>
          <p:cNvSpPr/>
          <p:nvPr/>
        </p:nvSpPr>
        <p:spPr>
          <a:xfrm>
            <a:off x="4929188" y="3843338"/>
            <a:ext cx="3026076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Enhanced factory pattern for model type selection</a:t>
            </a:r>
            <a:endParaRPr lang="en-US" sz="942" dirty="0"/>
          </a:p>
        </p:txBody>
      </p:sp>
      <p:pic>
        <p:nvPicPr>
          <p:cNvPr id="34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714875" y="4229100"/>
            <a:ext cx="142875" cy="142875"/>
          </a:xfrm>
          <a:prstGeom prst="rect">
            <a:avLst/>
          </a:prstGeom>
        </p:spPr>
      </p:pic>
      <p:sp>
        <p:nvSpPr>
          <p:cNvPr id="35" name="Text 21"/>
          <p:cNvSpPr/>
          <p:nvPr/>
        </p:nvSpPr>
        <p:spPr>
          <a:xfrm>
            <a:off x="4929188" y="4179094"/>
            <a:ext cx="2785337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Specialized evaluation metrics for RAG models</a:t>
            </a:r>
            <a:endParaRPr lang="en-US" sz="942" dirty="0"/>
          </a:p>
        </p:txBody>
      </p:sp>
      <p:sp>
        <p:nvSpPr>
          <p:cNvPr id="36" name="Text 22"/>
          <p:cNvSpPr/>
          <p:nvPr/>
        </p:nvSpPr>
        <p:spPr>
          <a:xfrm>
            <a:off x="285750" y="5686425"/>
            <a:ext cx="218478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Engine-Agnostic ML Pipeline with RAG Support</a:t>
            </a:r>
            <a:endParaRPr lang="en-US" sz="732" dirty="0"/>
          </a:p>
        </p:txBody>
      </p:sp>
      <p:sp>
        <p:nvSpPr>
          <p:cNvPr id="37" name="Text 23"/>
          <p:cNvSpPr/>
          <p:nvPr/>
        </p:nvSpPr>
        <p:spPr>
          <a:xfrm>
            <a:off x="7823020" y="5686425"/>
            <a:ext cx="103523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Architecture Overview</a:t>
            </a:r>
            <a:endParaRPr lang="en-US" sz="732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2793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2100374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025" b="1" dirty="0">
                <a:solidFill>
                  <a:srgbClr val="0066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RAG Capabilities</a:t>
            </a:r>
            <a:endParaRPr lang="en-US" sz="2025" dirty="0"/>
          </a:p>
        </p:txBody>
      </p:sp>
      <p:sp>
        <p:nvSpPr>
          <p:cNvPr id="4" name="Text 1"/>
          <p:cNvSpPr/>
          <p:nvPr/>
        </p:nvSpPr>
        <p:spPr>
          <a:xfrm>
            <a:off x="285750" y="814388"/>
            <a:ext cx="41433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066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RAG Types</a:t>
            </a:r>
            <a:endParaRPr lang="en-US" sz="1350" dirty="0"/>
          </a:p>
        </p:txBody>
      </p:sp>
      <p:sp>
        <p:nvSpPr>
          <p:cNvPr id="5" name="Shape 2"/>
          <p:cNvSpPr/>
          <p:nvPr/>
        </p:nvSpPr>
        <p:spPr>
          <a:xfrm>
            <a:off x="285750" y="1178719"/>
            <a:ext cx="4143375" cy="718617"/>
          </a:xfrm>
          <a:prstGeom prst="rect">
            <a:avLst/>
          </a:prstGeom>
          <a:solidFill>
            <a:srgbClr val="F0F7FF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475" y="1300163"/>
            <a:ext cx="160734" cy="14287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03647" y="1275159"/>
            <a:ext cx="850497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0066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Adaptive RAG</a:t>
            </a:r>
            <a:endParaRPr lang="en-US" sz="942" dirty="0"/>
          </a:p>
        </p:txBody>
      </p:sp>
      <p:sp>
        <p:nvSpPr>
          <p:cNvPr id="8" name="Text 4"/>
          <p:cNvSpPr/>
          <p:nvPr/>
        </p:nvSpPr>
        <p:spPr>
          <a:xfrm>
            <a:off x="371475" y="1514475"/>
            <a:ext cx="3971925" cy="2971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Dynamically selects retrieval strategy based on query complexity. Uses a classifier to determine the appropriate approach for each query. </a:t>
            </a:r>
            <a:endParaRPr lang="en-US" sz="837" dirty="0"/>
          </a:p>
        </p:txBody>
      </p:sp>
      <p:sp>
        <p:nvSpPr>
          <p:cNvPr id="9" name="Shape 5"/>
          <p:cNvSpPr/>
          <p:nvPr/>
        </p:nvSpPr>
        <p:spPr>
          <a:xfrm>
            <a:off x="285750" y="1983060"/>
            <a:ext cx="4143375" cy="718617"/>
          </a:xfrm>
          <a:prstGeom prst="rect">
            <a:avLst/>
          </a:prstGeom>
          <a:solidFill>
            <a:srgbClr val="F0F7FF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475" y="2104504"/>
            <a:ext cx="142875" cy="14287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85788" y="2079501"/>
            <a:ext cx="93767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0066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Corrective RAG</a:t>
            </a:r>
            <a:endParaRPr lang="en-US" sz="942" dirty="0"/>
          </a:p>
        </p:txBody>
      </p:sp>
      <p:sp>
        <p:nvSpPr>
          <p:cNvPr id="12" name="Text 7"/>
          <p:cNvSpPr/>
          <p:nvPr/>
        </p:nvSpPr>
        <p:spPr>
          <a:xfrm>
            <a:off x="371475" y="2318817"/>
            <a:ext cx="3971925" cy="2971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Improves retrieval quality by scoring and filtering documents based on relevance. Reduces hallucinations and improves answer accuracy. </a:t>
            </a:r>
            <a:endParaRPr lang="en-US" sz="837" dirty="0"/>
          </a:p>
        </p:txBody>
      </p:sp>
      <p:sp>
        <p:nvSpPr>
          <p:cNvPr id="13" name="Shape 8"/>
          <p:cNvSpPr/>
          <p:nvPr/>
        </p:nvSpPr>
        <p:spPr>
          <a:xfrm>
            <a:off x="285750" y="2787402"/>
            <a:ext cx="4143375" cy="718617"/>
          </a:xfrm>
          <a:prstGeom prst="rect">
            <a:avLst/>
          </a:prstGeom>
          <a:solidFill>
            <a:srgbClr val="F0F7FF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475" y="2908846"/>
            <a:ext cx="142875" cy="142875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85788" y="2883843"/>
            <a:ext cx="531595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0066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Self-RAG</a:t>
            </a:r>
            <a:endParaRPr lang="en-US" sz="942" dirty="0"/>
          </a:p>
        </p:txBody>
      </p:sp>
      <p:sp>
        <p:nvSpPr>
          <p:cNvPr id="16" name="Text 10"/>
          <p:cNvSpPr/>
          <p:nvPr/>
        </p:nvSpPr>
        <p:spPr>
          <a:xfrm>
            <a:off x="371475" y="3123158"/>
            <a:ext cx="3971925" cy="2971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Enables self-reflection on retrieval decisions and generation quality. The model can critique its own outputs and refine responses. </a:t>
            </a:r>
            <a:endParaRPr lang="en-US" sz="837" dirty="0"/>
          </a:p>
        </p:txBody>
      </p:sp>
      <p:sp>
        <p:nvSpPr>
          <p:cNvPr id="17" name="Text 11"/>
          <p:cNvSpPr/>
          <p:nvPr/>
        </p:nvSpPr>
        <p:spPr>
          <a:xfrm>
            <a:off x="4714875" y="814388"/>
            <a:ext cx="41433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066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RAG Architecture</a:t>
            </a:r>
            <a:endParaRPr lang="en-US" sz="135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4875" y="1178719"/>
            <a:ext cx="4143375" cy="228600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4714875" y="3571875"/>
            <a:ext cx="41433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066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Implementation Approaches</a:t>
            </a:r>
            <a:endParaRPr lang="en-US" sz="1350" dirty="0"/>
          </a:p>
        </p:txBody>
      </p:sp>
      <p:sp>
        <p:nvSpPr>
          <p:cNvPr id="20" name="Shape 13"/>
          <p:cNvSpPr/>
          <p:nvPr/>
        </p:nvSpPr>
        <p:spPr>
          <a:xfrm>
            <a:off x="4714875" y="3936206"/>
            <a:ext cx="4143375" cy="728663"/>
          </a:xfrm>
          <a:prstGeom prst="rect">
            <a:avLst/>
          </a:prstGeom>
          <a:solidFill>
            <a:srgbClr val="FFF9F0"/>
          </a:solidFill>
          <a:ln/>
        </p:spPr>
      </p:sp>
      <p:sp>
        <p:nvSpPr>
          <p:cNvPr id="21" name="Shape 14"/>
          <p:cNvSpPr/>
          <p:nvPr/>
        </p:nvSpPr>
        <p:spPr>
          <a:xfrm>
            <a:off x="4714875" y="3936206"/>
            <a:ext cx="28575" cy="728663"/>
          </a:xfrm>
          <a:prstGeom prst="rect">
            <a:avLst/>
          </a:prstGeom>
          <a:solidFill>
            <a:srgbClr val="FF9900"/>
          </a:solidFill>
          <a:ln/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0600" y="4229100"/>
            <a:ext cx="142875" cy="142875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5014913" y="4021931"/>
            <a:ext cx="375761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Lightweight Approach</a:t>
            </a:r>
            <a:endParaRPr lang="en-US" sz="942" dirty="0"/>
          </a:p>
        </p:txBody>
      </p:sp>
      <p:sp>
        <p:nvSpPr>
          <p:cNvPr id="24" name="Text 16"/>
          <p:cNvSpPr/>
          <p:nvPr/>
        </p:nvSpPr>
        <p:spPr>
          <a:xfrm>
            <a:off x="5014913" y="4236244"/>
            <a:ext cx="375761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CPU-friendly implementation using scikit-learn and TF-IDF for efficient retrieval. Ideal for environments without GPU access. </a:t>
            </a:r>
            <a:endParaRPr lang="en-US" sz="837" dirty="0"/>
          </a:p>
        </p:txBody>
      </p:sp>
      <p:sp>
        <p:nvSpPr>
          <p:cNvPr id="25" name="Shape 17"/>
          <p:cNvSpPr/>
          <p:nvPr/>
        </p:nvSpPr>
        <p:spPr>
          <a:xfrm>
            <a:off x="4714875" y="4750594"/>
            <a:ext cx="4143375" cy="900113"/>
          </a:xfrm>
          <a:prstGeom prst="rect">
            <a:avLst/>
          </a:prstGeom>
          <a:solidFill>
            <a:srgbClr val="FFF9F0"/>
          </a:solidFill>
          <a:ln/>
        </p:spPr>
      </p:sp>
      <p:sp>
        <p:nvSpPr>
          <p:cNvPr id="26" name="Shape 18"/>
          <p:cNvSpPr/>
          <p:nvPr/>
        </p:nvSpPr>
        <p:spPr>
          <a:xfrm>
            <a:off x="4714875" y="4750594"/>
            <a:ext cx="28575" cy="900113"/>
          </a:xfrm>
          <a:prstGeom prst="rect">
            <a:avLst/>
          </a:prstGeom>
          <a:solidFill>
            <a:srgbClr val="FF9900"/>
          </a:solidFill>
          <a:ln/>
        </p:spPr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00600" y="5129213"/>
            <a:ext cx="107156" cy="142875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4979194" y="4836319"/>
            <a:ext cx="3793331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Transformer Approach</a:t>
            </a:r>
            <a:endParaRPr lang="en-US" sz="942" dirty="0"/>
          </a:p>
        </p:txBody>
      </p:sp>
      <p:sp>
        <p:nvSpPr>
          <p:cNvPr id="29" name="Text 20"/>
          <p:cNvSpPr/>
          <p:nvPr/>
        </p:nvSpPr>
        <p:spPr>
          <a:xfrm>
            <a:off x="4979194" y="5050631"/>
            <a:ext cx="3793331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More accurate implementation using Hugging Face transformers. Requires more computational resources but delivers higher quality results. </a:t>
            </a:r>
            <a:endParaRPr lang="en-US" sz="837" dirty="0"/>
          </a:p>
        </p:txBody>
      </p:sp>
      <p:sp>
        <p:nvSpPr>
          <p:cNvPr id="30" name="Text 21"/>
          <p:cNvSpPr/>
          <p:nvPr/>
        </p:nvSpPr>
        <p:spPr>
          <a:xfrm>
            <a:off x="285750" y="5843588"/>
            <a:ext cx="218478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Engine-Agnostic ML Pipeline with RAG Support</a:t>
            </a:r>
            <a:endParaRPr lang="en-US" sz="732" dirty="0"/>
          </a:p>
        </p:txBody>
      </p:sp>
      <p:sp>
        <p:nvSpPr>
          <p:cNvPr id="31" name="Text 22"/>
          <p:cNvSpPr/>
          <p:nvPr/>
        </p:nvSpPr>
        <p:spPr>
          <a:xfrm>
            <a:off x="8093227" y="5843588"/>
            <a:ext cx="76502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RAG Capabilities</a:t>
            </a:r>
            <a:endParaRPr lang="en-US" sz="732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55627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2728633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025" b="1" dirty="0">
                <a:solidFill>
                  <a:srgbClr val="0066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Multi-Engine Support</a:t>
            </a:r>
            <a:endParaRPr lang="en-US" sz="2025" dirty="0"/>
          </a:p>
        </p:txBody>
      </p:sp>
      <p:sp>
        <p:nvSpPr>
          <p:cNvPr id="4" name="Text 1"/>
          <p:cNvSpPr/>
          <p:nvPr/>
        </p:nvSpPr>
        <p:spPr>
          <a:xfrm>
            <a:off x="285750" y="814388"/>
            <a:ext cx="41433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066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Engine-Agnostic Architecture</a:t>
            </a:r>
            <a:endParaRPr lang="en-US" sz="13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1178719"/>
            <a:ext cx="4143375" cy="22860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285750" y="3679031"/>
            <a:ext cx="4143375" cy="1334319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7" name="Text 3"/>
          <p:cNvSpPr/>
          <p:nvPr/>
        </p:nvSpPr>
        <p:spPr>
          <a:xfrm>
            <a:off x="392906" y="3787973"/>
            <a:ext cx="176763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0066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# Factory pattern for engine selection</a:t>
            </a:r>
            <a:endParaRPr lang="en-US" sz="732" dirty="0"/>
          </a:p>
        </p:txBody>
      </p:sp>
      <p:sp>
        <p:nvSpPr>
          <p:cNvPr id="8" name="Text 4"/>
          <p:cNvSpPr/>
          <p:nvPr/>
        </p:nvSpPr>
        <p:spPr>
          <a:xfrm>
            <a:off x="392906" y="3926188"/>
            <a:ext cx="3929063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def get_rag_trainer(engine: str, rag_type: str):</a:t>
            </a:r>
            <a:endParaRPr lang="en-US" sz="732" dirty="0"/>
          </a:p>
        </p:txBody>
      </p:sp>
      <p:sp>
        <p:nvSpPr>
          <p:cNvPr id="9" name="Text 5"/>
          <p:cNvSpPr/>
          <p:nvPr/>
        </p:nvSpPr>
        <p:spPr>
          <a:xfrm>
            <a:off x="392906" y="4066189"/>
            <a:ext cx="3929063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if engine == "dask":</a:t>
            </a:r>
            <a:endParaRPr lang="en-US" sz="732" dirty="0"/>
          </a:p>
        </p:txBody>
      </p:sp>
      <p:sp>
        <p:nvSpPr>
          <p:cNvPr id="10" name="Text 6"/>
          <p:cNvSpPr/>
          <p:nvPr/>
        </p:nvSpPr>
        <p:spPr>
          <a:xfrm>
            <a:off x="392906" y="4206190"/>
            <a:ext cx="3929063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return DaskRAGTrainer(rag_type)</a:t>
            </a:r>
            <a:endParaRPr lang="en-US" sz="732" dirty="0"/>
          </a:p>
        </p:txBody>
      </p:sp>
      <p:sp>
        <p:nvSpPr>
          <p:cNvPr id="11" name="Text 7"/>
          <p:cNvSpPr/>
          <p:nvPr/>
        </p:nvSpPr>
        <p:spPr>
          <a:xfrm>
            <a:off x="392906" y="4346191"/>
            <a:ext cx="3929063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elif engine == "spark":</a:t>
            </a:r>
            <a:endParaRPr lang="en-US" sz="732" dirty="0"/>
          </a:p>
        </p:txBody>
      </p:sp>
      <p:sp>
        <p:nvSpPr>
          <p:cNvPr id="12" name="Text 8"/>
          <p:cNvSpPr/>
          <p:nvPr/>
        </p:nvSpPr>
        <p:spPr>
          <a:xfrm>
            <a:off x="392906" y="4486191"/>
            <a:ext cx="3929063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return SparkRAGTrainer(rag_type)</a:t>
            </a:r>
            <a:endParaRPr lang="en-US" sz="732" dirty="0"/>
          </a:p>
        </p:txBody>
      </p:sp>
      <p:sp>
        <p:nvSpPr>
          <p:cNvPr id="13" name="Text 9"/>
          <p:cNvSpPr/>
          <p:nvPr/>
        </p:nvSpPr>
        <p:spPr>
          <a:xfrm>
            <a:off x="392906" y="4626192"/>
            <a:ext cx="3929063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elif engine == "ray":</a:t>
            </a:r>
            <a:endParaRPr lang="en-US" sz="732" dirty="0"/>
          </a:p>
        </p:txBody>
      </p:sp>
      <p:sp>
        <p:nvSpPr>
          <p:cNvPr id="14" name="Text 10"/>
          <p:cNvSpPr/>
          <p:nvPr/>
        </p:nvSpPr>
        <p:spPr>
          <a:xfrm>
            <a:off x="392906" y="4766193"/>
            <a:ext cx="3929063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return RayRAGTrainer(rag_type)</a:t>
            </a:r>
            <a:endParaRPr lang="en-US" sz="732" dirty="0"/>
          </a:p>
        </p:txBody>
      </p:sp>
      <p:sp>
        <p:nvSpPr>
          <p:cNvPr id="15" name="Text 11"/>
          <p:cNvSpPr/>
          <p:nvPr/>
        </p:nvSpPr>
        <p:spPr>
          <a:xfrm>
            <a:off x="4714875" y="814388"/>
            <a:ext cx="41433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066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Distributed Computing Engines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4714875" y="1178719"/>
            <a:ext cx="4143375" cy="1085850"/>
          </a:xfrm>
          <a:prstGeom prst="rect">
            <a:avLst/>
          </a:prstGeom>
          <a:solidFill>
            <a:srgbClr val="F0F7FF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2031" y="1328738"/>
            <a:ext cx="171450" cy="17145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100638" y="1285875"/>
            <a:ext cx="3650456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0066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Dask</a:t>
            </a:r>
            <a:endParaRPr lang="en-US" sz="1046" dirty="0"/>
          </a:p>
        </p:txBody>
      </p:sp>
      <p:sp>
        <p:nvSpPr>
          <p:cNvPr id="19" name="Text 14"/>
          <p:cNvSpPr/>
          <p:nvPr/>
        </p:nvSpPr>
        <p:spPr>
          <a:xfrm>
            <a:off x="5100638" y="1535906"/>
            <a:ext cx="36504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Parallel computing library that scales Python. Excellent for CPU-intensive RAG training with efficient memory management. </a:t>
            </a:r>
            <a:endParaRPr lang="en-US" sz="837" dirty="0"/>
          </a:p>
        </p:txBody>
      </p:sp>
      <p:sp>
        <p:nvSpPr>
          <p:cNvPr id="20" name="Shape 15"/>
          <p:cNvSpPr/>
          <p:nvPr/>
        </p:nvSpPr>
        <p:spPr>
          <a:xfrm>
            <a:off x="5100638" y="1950244"/>
            <a:ext cx="1186142" cy="207169"/>
          </a:xfrm>
          <a:prstGeom prst="rect">
            <a:avLst/>
          </a:prstGeom>
          <a:solidFill>
            <a:srgbClr val="E0F0FF"/>
          </a:solidFill>
          <a:ln/>
        </p:spPr>
      </p:sp>
      <p:sp>
        <p:nvSpPr>
          <p:cNvPr id="21" name="Text 16"/>
          <p:cNvSpPr/>
          <p:nvPr/>
        </p:nvSpPr>
        <p:spPr>
          <a:xfrm>
            <a:off x="5100638" y="1950244"/>
            <a:ext cx="1186142" cy="207169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0066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Distributed DataFrame</a:t>
            </a:r>
            <a:endParaRPr lang="en-US" sz="732" dirty="0"/>
          </a:p>
        </p:txBody>
      </p:sp>
      <p:sp>
        <p:nvSpPr>
          <p:cNvPr id="22" name="Shape 17"/>
          <p:cNvSpPr/>
          <p:nvPr/>
        </p:nvSpPr>
        <p:spPr>
          <a:xfrm>
            <a:off x="6343929" y="1950244"/>
            <a:ext cx="864701" cy="207169"/>
          </a:xfrm>
          <a:prstGeom prst="rect">
            <a:avLst/>
          </a:prstGeom>
          <a:solidFill>
            <a:srgbClr val="E0F0FF"/>
          </a:solidFill>
          <a:ln/>
        </p:spPr>
      </p:sp>
      <p:sp>
        <p:nvSpPr>
          <p:cNvPr id="23" name="Text 18"/>
          <p:cNvSpPr/>
          <p:nvPr/>
        </p:nvSpPr>
        <p:spPr>
          <a:xfrm>
            <a:off x="6343929" y="1950244"/>
            <a:ext cx="864701" cy="207169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0066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Task Scheduling</a:t>
            </a:r>
            <a:endParaRPr lang="en-US" sz="732" dirty="0"/>
          </a:p>
        </p:txBody>
      </p:sp>
      <p:sp>
        <p:nvSpPr>
          <p:cNvPr id="24" name="Shape 19"/>
          <p:cNvSpPr/>
          <p:nvPr/>
        </p:nvSpPr>
        <p:spPr>
          <a:xfrm>
            <a:off x="7265780" y="1950244"/>
            <a:ext cx="975010" cy="207169"/>
          </a:xfrm>
          <a:prstGeom prst="rect">
            <a:avLst/>
          </a:prstGeom>
          <a:solidFill>
            <a:srgbClr val="E0F0FF"/>
          </a:solidFill>
          <a:ln/>
        </p:spPr>
      </p:sp>
      <p:sp>
        <p:nvSpPr>
          <p:cNvPr id="25" name="Text 20"/>
          <p:cNvSpPr/>
          <p:nvPr/>
        </p:nvSpPr>
        <p:spPr>
          <a:xfrm>
            <a:off x="7265780" y="1950244"/>
            <a:ext cx="975010" cy="207169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0066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Memory Efficiency</a:t>
            </a:r>
            <a:endParaRPr lang="en-US" sz="732" dirty="0"/>
          </a:p>
        </p:txBody>
      </p:sp>
      <p:sp>
        <p:nvSpPr>
          <p:cNvPr id="26" name="Shape 21"/>
          <p:cNvSpPr/>
          <p:nvPr/>
        </p:nvSpPr>
        <p:spPr>
          <a:xfrm>
            <a:off x="4714875" y="2371725"/>
            <a:ext cx="4143375" cy="1085850"/>
          </a:xfrm>
          <a:prstGeom prst="rect">
            <a:avLst/>
          </a:prstGeom>
          <a:solidFill>
            <a:srgbClr val="F0F7FF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2031" y="2521744"/>
            <a:ext cx="128588" cy="17145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5057775" y="2478881"/>
            <a:ext cx="369331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0066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Spark</a:t>
            </a:r>
            <a:endParaRPr lang="en-US" sz="1046" dirty="0"/>
          </a:p>
        </p:txBody>
      </p:sp>
      <p:sp>
        <p:nvSpPr>
          <p:cNvPr id="29" name="Text 23"/>
          <p:cNvSpPr/>
          <p:nvPr/>
        </p:nvSpPr>
        <p:spPr>
          <a:xfrm>
            <a:off x="5057775" y="2728913"/>
            <a:ext cx="369331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Fast and general-purpose cluster computing system. Great for large datasets with MLlib integration. </a:t>
            </a:r>
            <a:endParaRPr lang="en-US" sz="837" dirty="0"/>
          </a:p>
        </p:txBody>
      </p:sp>
      <p:sp>
        <p:nvSpPr>
          <p:cNvPr id="30" name="Shape 24"/>
          <p:cNvSpPr/>
          <p:nvPr/>
        </p:nvSpPr>
        <p:spPr>
          <a:xfrm>
            <a:off x="5057775" y="3143250"/>
            <a:ext cx="872096" cy="207169"/>
          </a:xfrm>
          <a:prstGeom prst="rect">
            <a:avLst/>
          </a:prstGeom>
          <a:solidFill>
            <a:srgbClr val="E0F0FF"/>
          </a:solidFill>
          <a:ln/>
        </p:spPr>
      </p:sp>
      <p:sp>
        <p:nvSpPr>
          <p:cNvPr id="31" name="Text 25"/>
          <p:cNvSpPr/>
          <p:nvPr/>
        </p:nvSpPr>
        <p:spPr>
          <a:xfrm>
            <a:off x="5057775" y="3143250"/>
            <a:ext cx="872096" cy="207169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0066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RDD Operations</a:t>
            </a:r>
            <a:endParaRPr lang="en-US" sz="732" dirty="0"/>
          </a:p>
        </p:txBody>
      </p:sp>
      <p:sp>
        <p:nvSpPr>
          <p:cNvPr id="32" name="Shape 26"/>
          <p:cNvSpPr/>
          <p:nvPr/>
        </p:nvSpPr>
        <p:spPr>
          <a:xfrm>
            <a:off x="5987021" y="3143250"/>
            <a:ext cx="925925" cy="207169"/>
          </a:xfrm>
          <a:prstGeom prst="rect">
            <a:avLst/>
          </a:prstGeom>
          <a:solidFill>
            <a:srgbClr val="E0F0FF"/>
          </a:solidFill>
          <a:ln/>
        </p:spPr>
      </p:sp>
      <p:sp>
        <p:nvSpPr>
          <p:cNvPr id="33" name="Text 27"/>
          <p:cNvSpPr/>
          <p:nvPr/>
        </p:nvSpPr>
        <p:spPr>
          <a:xfrm>
            <a:off x="5987021" y="3143250"/>
            <a:ext cx="925925" cy="207169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0066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MLlib Integration</a:t>
            </a:r>
            <a:endParaRPr lang="en-US" sz="732" dirty="0"/>
          </a:p>
        </p:txBody>
      </p:sp>
      <p:sp>
        <p:nvSpPr>
          <p:cNvPr id="34" name="Shape 28"/>
          <p:cNvSpPr/>
          <p:nvPr/>
        </p:nvSpPr>
        <p:spPr>
          <a:xfrm>
            <a:off x="6970095" y="3143250"/>
            <a:ext cx="703380" cy="207169"/>
          </a:xfrm>
          <a:prstGeom prst="rect">
            <a:avLst/>
          </a:prstGeom>
          <a:solidFill>
            <a:srgbClr val="E0F0FF"/>
          </a:solidFill>
          <a:ln/>
        </p:spPr>
      </p:sp>
      <p:sp>
        <p:nvSpPr>
          <p:cNvPr id="35" name="Text 29"/>
          <p:cNvSpPr/>
          <p:nvPr/>
        </p:nvSpPr>
        <p:spPr>
          <a:xfrm>
            <a:off x="6970095" y="3143250"/>
            <a:ext cx="703380" cy="207169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0066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SQL Support</a:t>
            </a:r>
            <a:endParaRPr lang="en-US" sz="732" dirty="0"/>
          </a:p>
        </p:txBody>
      </p:sp>
      <p:sp>
        <p:nvSpPr>
          <p:cNvPr id="36" name="Shape 30"/>
          <p:cNvSpPr/>
          <p:nvPr/>
        </p:nvSpPr>
        <p:spPr>
          <a:xfrm>
            <a:off x="4714875" y="3564731"/>
            <a:ext cx="4143375" cy="1085850"/>
          </a:xfrm>
          <a:prstGeom prst="rect">
            <a:avLst/>
          </a:prstGeom>
          <a:solidFill>
            <a:srgbClr val="F0F7FF"/>
          </a:solidFill>
          <a:ln/>
        </p:spPr>
      </p:sp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2031" y="3714750"/>
            <a:ext cx="171450" cy="171450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5100638" y="3671888"/>
            <a:ext cx="3650456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0066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Ray</a:t>
            </a:r>
            <a:endParaRPr lang="en-US" sz="1046" dirty="0"/>
          </a:p>
        </p:txBody>
      </p:sp>
      <p:sp>
        <p:nvSpPr>
          <p:cNvPr id="39" name="Text 32"/>
          <p:cNvSpPr/>
          <p:nvPr/>
        </p:nvSpPr>
        <p:spPr>
          <a:xfrm>
            <a:off x="5100638" y="3921919"/>
            <a:ext cx="36504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Framework for scaling Python applications. Optimal for parallel processing and hyperparameter tuning. </a:t>
            </a:r>
            <a:endParaRPr lang="en-US" sz="837" dirty="0"/>
          </a:p>
        </p:txBody>
      </p:sp>
      <p:sp>
        <p:nvSpPr>
          <p:cNvPr id="40" name="Shape 33"/>
          <p:cNvSpPr/>
          <p:nvPr/>
        </p:nvSpPr>
        <p:spPr>
          <a:xfrm>
            <a:off x="5100638" y="4336256"/>
            <a:ext cx="685074" cy="207169"/>
          </a:xfrm>
          <a:prstGeom prst="rect">
            <a:avLst/>
          </a:prstGeom>
          <a:solidFill>
            <a:srgbClr val="E0F0FF"/>
          </a:solidFill>
          <a:ln/>
        </p:spPr>
      </p:sp>
      <p:sp>
        <p:nvSpPr>
          <p:cNvPr id="41" name="Text 34"/>
          <p:cNvSpPr/>
          <p:nvPr/>
        </p:nvSpPr>
        <p:spPr>
          <a:xfrm>
            <a:off x="5100638" y="4336256"/>
            <a:ext cx="685074" cy="207169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0066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Actor Model</a:t>
            </a:r>
            <a:endParaRPr lang="en-US" sz="732" dirty="0"/>
          </a:p>
        </p:txBody>
      </p:sp>
      <p:sp>
        <p:nvSpPr>
          <p:cNvPr id="42" name="Shape 35"/>
          <p:cNvSpPr/>
          <p:nvPr/>
        </p:nvSpPr>
        <p:spPr>
          <a:xfrm>
            <a:off x="5842862" y="4336256"/>
            <a:ext cx="540274" cy="207169"/>
          </a:xfrm>
          <a:prstGeom prst="rect">
            <a:avLst/>
          </a:prstGeom>
          <a:solidFill>
            <a:srgbClr val="E0F0FF"/>
          </a:solidFill>
          <a:ln/>
        </p:spPr>
      </p:sp>
      <p:sp>
        <p:nvSpPr>
          <p:cNvPr id="43" name="Text 36"/>
          <p:cNvSpPr/>
          <p:nvPr/>
        </p:nvSpPr>
        <p:spPr>
          <a:xfrm>
            <a:off x="5842862" y="4336256"/>
            <a:ext cx="540274" cy="207169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0066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Ray Tune</a:t>
            </a:r>
            <a:endParaRPr lang="en-US" sz="732" dirty="0"/>
          </a:p>
        </p:txBody>
      </p:sp>
      <p:sp>
        <p:nvSpPr>
          <p:cNvPr id="44" name="Shape 37"/>
          <p:cNvSpPr/>
          <p:nvPr/>
        </p:nvSpPr>
        <p:spPr>
          <a:xfrm>
            <a:off x="6440286" y="4336256"/>
            <a:ext cx="1050327" cy="207169"/>
          </a:xfrm>
          <a:prstGeom prst="rect">
            <a:avLst/>
          </a:prstGeom>
          <a:solidFill>
            <a:srgbClr val="E0F0FF"/>
          </a:solidFill>
          <a:ln/>
        </p:spPr>
      </p:sp>
      <p:sp>
        <p:nvSpPr>
          <p:cNvPr id="45" name="Text 38"/>
          <p:cNvSpPr/>
          <p:nvPr/>
        </p:nvSpPr>
        <p:spPr>
          <a:xfrm>
            <a:off x="6440286" y="4336256"/>
            <a:ext cx="1050327" cy="207169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0066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Distributed Training</a:t>
            </a:r>
            <a:endParaRPr lang="en-US" sz="732" dirty="0"/>
          </a:p>
        </p:txBody>
      </p:sp>
      <p:sp>
        <p:nvSpPr>
          <p:cNvPr id="46" name="Text 39"/>
          <p:cNvSpPr/>
          <p:nvPr/>
        </p:nvSpPr>
        <p:spPr>
          <a:xfrm>
            <a:off x="285750" y="5120506"/>
            <a:ext cx="218478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Engine-Agnostic ML Pipeline with RAG Support</a:t>
            </a:r>
            <a:endParaRPr lang="en-US" sz="732" dirty="0"/>
          </a:p>
        </p:txBody>
      </p:sp>
      <p:sp>
        <p:nvSpPr>
          <p:cNvPr id="47" name="Text 40"/>
          <p:cNvSpPr/>
          <p:nvPr/>
        </p:nvSpPr>
        <p:spPr>
          <a:xfrm>
            <a:off x="7859213" y="5120506"/>
            <a:ext cx="999037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Multi-Engine Support</a:t>
            </a:r>
            <a:endParaRPr lang="en-US" sz="732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31507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3429949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025" b="1" dirty="0">
                <a:solidFill>
                  <a:srgbClr val="0066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Comprehensive Evaluation</a:t>
            </a:r>
            <a:endParaRPr lang="en-US" sz="2025" dirty="0"/>
          </a:p>
        </p:txBody>
      </p:sp>
      <p:sp>
        <p:nvSpPr>
          <p:cNvPr id="4" name="Text 1"/>
          <p:cNvSpPr/>
          <p:nvPr/>
        </p:nvSpPr>
        <p:spPr>
          <a:xfrm>
            <a:off x="285750" y="814388"/>
            <a:ext cx="41433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066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Evaluation Framework</a:t>
            </a:r>
            <a:endParaRPr lang="en-US" sz="13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1178719"/>
            <a:ext cx="4143375" cy="2286000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750" y="3604022"/>
            <a:ext cx="128588" cy="128588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471488" y="3571875"/>
            <a:ext cx="1278424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0066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RAG-Specific Metrics</a:t>
            </a:r>
            <a:endParaRPr lang="en-US" sz="942" dirty="0"/>
          </a:p>
        </p:txBody>
      </p:sp>
      <p:sp>
        <p:nvSpPr>
          <p:cNvPr id="8" name="Shape 3"/>
          <p:cNvSpPr/>
          <p:nvPr/>
        </p:nvSpPr>
        <p:spPr>
          <a:xfrm>
            <a:off x="285750" y="3836194"/>
            <a:ext cx="922660" cy="275034"/>
          </a:xfrm>
          <a:prstGeom prst="rect">
            <a:avLst/>
          </a:prstGeom>
          <a:solidFill>
            <a:srgbClr val="F0F7FF"/>
          </a:solidFill>
          <a:ln/>
        </p:spPr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475" y="3923705"/>
            <a:ext cx="100013" cy="100013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514350" y="3893344"/>
            <a:ext cx="608335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5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Faithfulness</a:t>
            </a:r>
            <a:endParaRPr lang="en-US" sz="785" dirty="0"/>
          </a:p>
        </p:txBody>
      </p:sp>
      <p:sp>
        <p:nvSpPr>
          <p:cNvPr id="11" name="Shape 5"/>
          <p:cNvSpPr/>
          <p:nvPr/>
        </p:nvSpPr>
        <p:spPr>
          <a:xfrm>
            <a:off x="1279847" y="3836194"/>
            <a:ext cx="913116" cy="275034"/>
          </a:xfrm>
          <a:prstGeom prst="rect">
            <a:avLst/>
          </a:prstGeom>
          <a:solidFill>
            <a:srgbClr val="F0F7FF"/>
          </a:solidFill>
          <a:ln/>
        </p:spPr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65572" y="3923705"/>
            <a:ext cx="100013" cy="100013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508447" y="3893344"/>
            <a:ext cx="598791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5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Correctness</a:t>
            </a:r>
            <a:endParaRPr lang="en-US" sz="785" dirty="0"/>
          </a:p>
        </p:txBody>
      </p:sp>
      <p:sp>
        <p:nvSpPr>
          <p:cNvPr id="14" name="Shape 7"/>
          <p:cNvSpPr/>
          <p:nvPr/>
        </p:nvSpPr>
        <p:spPr>
          <a:xfrm>
            <a:off x="2264401" y="3836194"/>
            <a:ext cx="1387199" cy="275034"/>
          </a:xfrm>
          <a:prstGeom prst="rect">
            <a:avLst/>
          </a:prstGeom>
          <a:solidFill>
            <a:srgbClr val="F0F7FF"/>
          </a:solidFill>
          <a:ln/>
        </p:spPr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50126" y="3923705"/>
            <a:ext cx="100013" cy="100013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2493001" y="3893344"/>
            <a:ext cx="1072874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5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Contextual Relevancy</a:t>
            </a:r>
            <a:endParaRPr lang="en-US" sz="785" dirty="0"/>
          </a:p>
        </p:txBody>
      </p:sp>
      <p:sp>
        <p:nvSpPr>
          <p:cNvPr id="17" name="Shape 9"/>
          <p:cNvSpPr/>
          <p:nvPr/>
        </p:nvSpPr>
        <p:spPr>
          <a:xfrm>
            <a:off x="285750" y="4182666"/>
            <a:ext cx="1217033" cy="275034"/>
          </a:xfrm>
          <a:prstGeom prst="rect">
            <a:avLst/>
          </a:prstGeom>
          <a:solidFill>
            <a:srgbClr val="F0F7FF"/>
          </a:solidFill>
          <a:ln/>
        </p:spPr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1475" y="4270177"/>
            <a:ext cx="100013" cy="100013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514350" y="4239816"/>
            <a:ext cx="902708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5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Answer Relevancy</a:t>
            </a:r>
            <a:endParaRPr lang="en-US" sz="785" dirty="0"/>
          </a:p>
        </p:txBody>
      </p:sp>
      <p:pic>
        <p:nvPicPr>
          <p:cNvPr id="2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5750" y="4704159"/>
            <a:ext cx="160734" cy="128588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503634" y="4672013"/>
            <a:ext cx="133412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0066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Code-Specific Metrics</a:t>
            </a:r>
            <a:endParaRPr lang="en-US" sz="942" dirty="0"/>
          </a:p>
        </p:txBody>
      </p:sp>
      <p:sp>
        <p:nvSpPr>
          <p:cNvPr id="22" name="Shape 12"/>
          <p:cNvSpPr/>
          <p:nvPr/>
        </p:nvSpPr>
        <p:spPr>
          <a:xfrm>
            <a:off x="285750" y="4936331"/>
            <a:ext cx="1178328" cy="275034"/>
          </a:xfrm>
          <a:prstGeom prst="rect">
            <a:avLst/>
          </a:prstGeom>
          <a:solidFill>
            <a:srgbClr val="F0F7FF"/>
          </a:solidFill>
          <a:ln/>
        </p:spPr>
      </p:sp>
      <p:pic>
        <p:nvPicPr>
          <p:cNvPr id="2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71475" y="5023842"/>
            <a:ext cx="100013" cy="100013"/>
          </a:xfrm>
          <a:prstGeom prst="rect">
            <a:avLst/>
          </a:prstGeom>
        </p:spPr>
      </p:pic>
      <p:sp>
        <p:nvSpPr>
          <p:cNvPr id="24" name="Text 13"/>
          <p:cNvSpPr/>
          <p:nvPr/>
        </p:nvSpPr>
        <p:spPr>
          <a:xfrm>
            <a:off x="514350" y="4993481"/>
            <a:ext cx="864003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5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Syntax Validation</a:t>
            </a:r>
            <a:endParaRPr lang="en-US" sz="785" dirty="0"/>
          </a:p>
        </p:txBody>
      </p:sp>
      <p:sp>
        <p:nvSpPr>
          <p:cNvPr id="25" name="Shape 14"/>
          <p:cNvSpPr/>
          <p:nvPr/>
        </p:nvSpPr>
        <p:spPr>
          <a:xfrm>
            <a:off x="1535516" y="4936331"/>
            <a:ext cx="1344113" cy="275034"/>
          </a:xfrm>
          <a:prstGeom prst="rect">
            <a:avLst/>
          </a:prstGeom>
          <a:solidFill>
            <a:srgbClr val="F0F7FF"/>
          </a:solidFill>
          <a:ln/>
        </p:spPr>
      </p:sp>
      <p:pic>
        <p:nvPicPr>
          <p:cNvPr id="2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21241" y="5023842"/>
            <a:ext cx="100013" cy="100013"/>
          </a:xfrm>
          <a:prstGeom prst="rect">
            <a:avLst/>
          </a:prstGeom>
        </p:spPr>
      </p:pic>
      <p:sp>
        <p:nvSpPr>
          <p:cNvPr id="27" name="Text 15"/>
          <p:cNvSpPr/>
          <p:nvPr/>
        </p:nvSpPr>
        <p:spPr>
          <a:xfrm>
            <a:off x="1764116" y="4993481"/>
            <a:ext cx="1029788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5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Security Assessment</a:t>
            </a:r>
            <a:endParaRPr lang="en-US" sz="785" dirty="0"/>
          </a:p>
        </p:txBody>
      </p:sp>
      <p:sp>
        <p:nvSpPr>
          <p:cNvPr id="28" name="Shape 16"/>
          <p:cNvSpPr/>
          <p:nvPr/>
        </p:nvSpPr>
        <p:spPr>
          <a:xfrm>
            <a:off x="2951066" y="4936331"/>
            <a:ext cx="1194095" cy="275034"/>
          </a:xfrm>
          <a:prstGeom prst="rect">
            <a:avLst/>
          </a:prstGeom>
          <a:solidFill>
            <a:srgbClr val="F0F7FF"/>
          </a:solidFill>
          <a:ln/>
        </p:spPr>
      </p:sp>
      <p:pic>
        <p:nvPicPr>
          <p:cNvPr id="29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036791" y="5023842"/>
            <a:ext cx="100013" cy="100013"/>
          </a:xfrm>
          <a:prstGeom prst="rect">
            <a:avLst/>
          </a:prstGeom>
        </p:spPr>
      </p:pic>
      <p:sp>
        <p:nvSpPr>
          <p:cNvPr id="30" name="Text 17"/>
          <p:cNvSpPr/>
          <p:nvPr/>
        </p:nvSpPr>
        <p:spPr>
          <a:xfrm>
            <a:off x="3179666" y="4993481"/>
            <a:ext cx="879770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5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Execution Testing</a:t>
            </a:r>
            <a:endParaRPr lang="en-US" sz="785" dirty="0"/>
          </a:p>
        </p:txBody>
      </p:sp>
      <p:sp>
        <p:nvSpPr>
          <p:cNvPr id="31" name="Shape 18"/>
          <p:cNvSpPr/>
          <p:nvPr/>
        </p:nvSpPr>
        <p:spPr>
          <a:xfrm>
            <a:off x="285750" y="5282803"/>
            <a:ext cx="959746" cy="275034"/>
          </a:xfrm>
          <a:prstGeom prst="rect">
            <a:avLst/>
          </a:prstGeom>
          <a:solidFill>
            <a:srgbClr val="F0F7FF"/>
          </a:solidFill>
          <a:ln/>
        </p:spPr>
      </p:sp>
      <p:pic>
        <p:nvPicPr>
          <p:cNvPr id="32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71475" y="5370314"/>
            <a:ext cx="100013" cy="100013"/>
          </a:xfrm>
          <a:prstGeom prst="rect">
            <a:avLst/>
          </a:prstGeom>
        </p:spPr>
      </p:pic>
      <p:sp>
        <p:nvSpPr>
          <p:cNvPr id="33" name="Text 19"/>
          <p:cNvSpPr/>
          <p:nvPr/>
        </p:nvSpPr>
        <p:spPr>
          <a:xfrm>
            <a:off x="514350" y="5339953"/>
            <a:ext cx="645421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5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Code Quality</a:t>
            </a:r>
            <a:endParaRPr lang="en-US" sz="785" dirty="0"/>
          </a:p>
        </p:txBody>
      </p:sp>
      <p:sp>
        <p:nvSpPr>
          <p:cNvPr id="34" name="Text 20"/>
          <p:cNvSpPr/>
          <p:nvPr/>
        </p:nvSpPr>
        <p:spPr>
          <a:xfrm>
            <a:off x="4714875" y="814388"/>
            <a:ext cx="41433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066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Evaluation Pipeline</a:t>
            </a:r>
            <a:endParaRPr lang="en-US" sz="1350" dirty="0"/>
          </a:p>
        </p:txBody>
      </p:sp>
      <p:sp>
        <p:nvSpPr>
          <p:cNvPr id="35" name="Shape 21"/>
          <p:cNvSpPr/>
          <p:nvPr/>
        </p:nvSpPr>
        <p:spPr>
          <a:xfrm>
            <a:off x="4714875" y="1285875"/>
            <a:ext cx="4143375" cy="2314324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6" name="Text 22"/>
          <p:cNvSpPr/>
          <p:nvPr/>
        </p:nvSpPr>
        <p:spPr>
          <a:xfrm>
            <a:off x="4822031" y="1394817"/>
            <a:ext cx="174232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0066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# Comprehensive evaluation pipeline</a:t>
            </a:r>
            <a:endParaRPr lang="en-US" sz="732" dirty="0"/>
          </a:p>
        </p:txBody>
      </p:sp>
      <p:sp>
        <p:nvSpPr>
          <p:cNvPr id="37" name="Text 23"/>
          <p:cNvSpPr/>
          <p:nvPr/>
        </p:nvSpPr>
        <p:spPr>
          <a:xfrm>
            <a:off x="4822031" y="1533032"/>
            <a:ext cx="3929063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class EvaluationPipeline:</a:t>
            </a:r>
            <a:endParaRPr lang="en-US" sz="732" dirty="0"/>
          </a:p>
        </p:txBody>
      </p:sp>
      <p:sp>
        <p:nvSpPr>
          <p:cNvPr id="38" name="Text 24"/>
          <p:cNvSpPr/>
          <p:nvPr/>
        </p:nvSpPr>
        <p:spPr>
          <a:xfrm>
            <a:off x="4822031" y="1673033"/>
            <a:ext cx="3929063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def __init__(self):</a:t>
            </a:r>
            <a:endParaRPr lang="en-US" sz="732" dirty="0"/>
          </a:p>
        </p:txBody>
      </p:sp>
      <p:sp>
        <p:nvSpPr>
          <p:cNvPr id="39" name="Text 25"/>
          <p:cNvSpPr/>
          <p:nvPr/>
        </p:nvSpPr>
        <p:spPr>
          <a:xfrm>
            <a:off x="4822031" y="1813034"/>
            <a:ext cx="3929063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self.rag_evaluator = RAGEvaluator()</a:t>
            </a:r>
            <a:endParaRPr lang="en-US" sz="732" dirty="0"/>
          </a:p>
        </p:txBody>
      </p:sp>
      <p:sp>
        <p:nvSpPr>
          <p:cNvPr id="40" name="Text 26"/>
          <p:cNvSpPr/>
          <p:nvPr/>
        </p:nvSpPr>
        <p:spPr>
          <a:xfrm>
            <a:off x="4822031" y="1953034"/>
            <a:ext cx="3929063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self.code_evaluator = CodeEvaluator()</a:t>
            </a:r>
            <a:endParaRPr lang="en-US" sz="732" dirty="0"/>
          </a:p>
        </p:txBody>
      </p:sp>
      <p:sp>
        <p:nvSpPr>
          <p:cNvPr id="41" name="Text 27"/>
          <p:cNvSpPr/>
          <p:nvPr/>
        </p:nvSpPr>
        <p:spPr>
          <a:xfrm>
            <a:off x="4822031" y="2093035"/>
            <a:ext cx="3929063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def evaluate_single_sample(self, question,</a:t>
            </a:r>
            <a:endParaRPr lang="en-US" sz="732" dirty="0"/>
          </a:p>
        </p:txBody>
      </p:sp>
      <p:sp>
        <p:nvSpPr>
          <p:cNvPr id="42" name="Text 28"/>
          <p:cNvSpPr/>
          <p:nvPr/>
        </p:nvSpPr>
        <p:spPr>
          <a:xfrm>
            <a:off x="4822031" y="2233036"/>
            <a:ext cx="3929063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context, generated_answer, ground_truth=None,</a:t>
            </a:r>
            <a:endParaRPr lang="en-US" sz="732" dirty="0"/>
          </a:p>
        </p:txBody>
      </p:sp>
      <p:sp>
        <p:nvSpPr>
          <p:cNvPr id="43" name="Text 29"/>
          <p:cNvSpPr/>
          <p:nvPr/>
        </p:nvSpPr>
        <p:spPr>
          <a:xfrm>
            <a:off x="4822031" y="2373037"/>
            <a:ext cx="3929063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test_cases=None):</a:t>
            </a:r>
            <a:endParaRPr lang="en-US" sz="732" dirty="0"/>
          </a:p>
        </p:txBody>
      </p:sp>
      <p:sp>
        <p:nvSpPr>
          <p:cNvPr id="44" name="Text 30"/>
          <p:cNvSpPr/>
          <p:nvPr/>
        </p:nvSpPr>
        <p:spPr>
          <a:xfrm>
            <a:off x="4822031" y="2514823"/>
            <a:ext cx="802807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0066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# RAG evaluation</a:t>
            </a:r>
            <a:endParaRPr lang="en-US" sz="732" dirty="0"/>
          </a:p>
        </p:txBody>
      </p:sp>
      <p:sp>
        <p:nvSpPr>
          <p:cNvPr id="45" name="Text 31"/>
          <p:cNvSpPr/>
          <p:nvPr/>
        </p:nvSpPr>
        <p:spPr>
          <a:xfrm>
            <a:off x="4822031" y="2653038"/>
            <a:ext cx="3929063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faithfulness = self.rag_evaluator.evaluate_faithfulness(</a:t>
            </a:r>
            <a:endParaRPr lang="en-US" sz="732" dirty="0"/>
          </a:p>
        </p:txBody>
      </p:sp>
      <p:sp>
        <p:nvSpPr>
          <p:cNvPr id="46" name="Text 32"/>
          <p:cNvSpPr/>
          <p:nvPr/>
        </p:nvSpPr>
        <p:spPr>
          <a:xfrm>
            <a:off x="4822031" y="2793039"/>
            <a:ext cx="3929063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question, context, generated_answer)</a:t>
            </a:r>
            <a:endParaRPr lang="en-US" sz="732" dirty="0"/>
          </a:p>
        </p:txBody>
      </p:sp>
      <p:sp>
        <p:nvSpPr>
          <p:cNvPr id="47" name="Text 33"/>
          <p:cNvSpPr/>
          <p:nvPr/>
        </p:nvSpPr>
        <p:spPr>
          <a:xfrm>
            <a:off x="4822031" y="2934826"/>
            <a:ext cx="143829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0066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# Code evaluation if applicable</a:t>
            </a:r>
            <a:endParaRPr lang="en-US" sz="732" dirty="0"/>
          </a:p>
        </p:txBody>
      </p:sp>
      <p:sp>
        <p:nvSpPr>
          <p:cNvPr id="48" name="Text 34"/>
          <p:cNvSpPr/>
          <p:nvPr/>
        </p:nvSpPr>
        <p:spPr>
          <a:xfrm>
            <a:off x="4822031" y="3073040"/>
            <a:ext cx="3929063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if self._contains_code(generated_answer):</a:t>
            </a:r>
            <a:endParaRPr lang="en-US" sz="732" dirty="0"/>
          </a:p>
        </p:txBody>
      </p:sp>
      <p:sp>
        <p:nvSpPr>
          <p:cNvPr id="49" name="Text 35"/>
          <p:cNvSpPr/>
          <p:nvPr/>
        </p:nvSpPr>
        <p:spPr>
          <a:xfrm>
            <a:off x="4822031" y="3213041"/>
            <a:ext cx="3929063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code = self._extract_code(generated_answer)</a:t>
            </a:r>
            <a:endParaRPr lang="en-US" sz="732" dirty="0"/>
          </a:p>
        </p:txBody>
      </p:sp>
      <p:sp>
        <p:nvSpPr>
          <p:cNvPr id="50" name="Text 36"/>
          <p:cNvSpPr/>
          <p:nvPr/>
        </p:nvSpPr>
        <p:spPr>
          <a:xfrm>
            <a:off x="4822031" y="3353042"/>
            <a:ext cx="3929063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syntax = self.code_evaluator.evaluate_syntax(code)</a:t>
            </a:r>
            <a:endParaRPr lang="en-US" sz="732" dirty="0"/>
          </a:p>
        </p:txBody>
      </p:sp>
      <p:sp>
        <p:nvSpPr>
          <p:cNvPr id="51" name="Text 37"/>
          <p:cNvSpPr/>
          <p:nvPr/>
        </p:nvSpPr>
        <p:spPr>
          <a:xfrm>
            <a:off x="4714875" y="3707355"/>
            <a:ext cx="41433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066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Key Benefits</a:t>
            </a:r>
            <a:endParaRPr lang="en-US" sz="1350" dirty="0"/>
          </a:p>
        </p:txBody>
      </p:sp>
      <p:sp>
        <p:nvSpPr>
          <p:cNvPr id="52" name="Shape 38"/>
          <p:cNvSpPr/>
          <p:nvPr/>
        </p:nvSpPr>
        <p:spPr>
          <a:xfrm>
            <a:off x="4714875" y="4071686"/>
            <a:ext cx="2471151" cy="275034"/>
          </a:xfrm>
          <a:prstGeom prst="rect">
            <a:avLst/>
          </a:prstGeom>
          <a:solidFill>
            <a:srgbClr val="F0F7FF"/>
          </a:solidFill>
          <a:ln/>
        </p:spPr>
      </p:sp>
      <p:pic>
        <p:nvPicPr>
          <p:cNvPr id="53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800600" y="4159197"/>
            <a:ext cx="112514" cy="100013"/>
          </a:xfrm>
          <a:prstGeom prst="rect">
            <a:avLst/>
          </a:prstGeom>
        </p:spPr>
      </p:pic>
      <p:sp>
        <p:nvSpPr>
          <p:cNvPr id="54" name="Text 39"/>
          <p:cNvSpPr/>
          <p:nvPr/>
        </p:nvSpPr>
        <p:spPr>
          <a:xfrm>
            <a:off x="4955977" y="4128836"/>
            <a:ext cx="2144325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5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Comprehensive assessment of RAG quality</a:t>
            </a:r>
            <a:endParaRPr lang="en-US" sz="785" dirty="0"/>
          </a:p>
        </p:txBody>
      </p:sp>
      <p:sp>
        <p:nvSpPr>
          <p:cNvPr id="55" name="Shape 40"/>
          <p:cNvSpPr/>
          <p:nvPr/>
        </p:nvSpPr>
        <p:spPr>
          <a:xfrm>
            <a:off x="4714875" y="4418158"/>
            <a:ext cx="2135953" cy="275034"/>
          </a:xfrm>
          <a:prstGeom prst="rect">
            <a:avLst/>
          </a:prstGeom>
          <a:solidFill>
            <a:srgbClr val="F0F7FF"/>
          </a:solidFill>
          <a:ln/>
        </p:spPr>
      </p:sp>
      <p:pic>
        <p:nvPicPr>
          <p:cNvPr id="56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800600" y="4505669"/>
            <a:ext cx="112514" cy="100013"/>
          </a:xfrm>
          <a:prstGeom prst="rect">
            <a:avLst/>
          </a:prstGeom>
        </p:spPr>
      </p:pic>
      <p:sp>
        <p:nvSpPr>
          <p:cNvPr id="57" name="Text 41"/>
          <p:cNvSpPr/>
          <p:nvPr/>
        </p:nvSpPr>
        <p:spPr>
          <a:xfrm>
            <a:off x="4955977" y="4475308"/>
            <a:ext cx="1809127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5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Specialized code generation metrics</a:t>
            </a:r>
            <a:endParaRPr lang="en-US" sz="785" dirty="0"/>
          </a:p>
        </p:txBody>
      </p:sp>
      <p:sp>
        <p:nvSpPr>
          <p:cNvPr id="58" name="Shape 42"/>
          <p:cNvSpPr/>
          <p:nvPr/>
        </p:nvSpPr>
        <p:spPr>
          <a:xfrm>
            <a:off x="6922266" y="4418158"/>
            <a:ext cx="1788561" cy="275034"/>
          </a:xfrm>
          <a:prstGeom prst="rect">
            <a:avLst/>
          </a:prstGeom>
          <a:solidFill>
            <a:srgbClr val="F0F7FF"/>
          </a:solidFill>
          <a:ln/>
        </p:spPr>
      </p:sp>
      <p:pic>
        <p:nvPicPr>
          <p:cNvPr id="59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007991" y="4505669"/>
            <a:ext cx="112514" cy="100013"/>
          </a:xfrm>
          <a:prstGeom prst="rect">
            <a:avLst/>
          </a:prstGeom>
        </p:spPr>
      </p:pic>
      <p:sp>
        <p:nvSpPr>
          <p:cNvPr id="60" name="Text 43"/>
          <p:cNvSpPr/>
          <p:nvPr/>
        </p:nvSpPr>
        <p:spPr>
          <a:xfrm>
            <a:off x="7163367" y="4475308"/>
            <a:ext cx="1461734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5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CPU-friendly implementation</a:t>
            </a:r>
            <a:endParaRPr lang="en-US" sz="785" dirty="0"/>
          </a:p>
        </p:txBody>
      </p:sp>
      <p:sp>
        <p:nvSpPr>
          <p:cNvPr id="61" name="Shape 44"/>
          <p:cNvSpPr/>
          <p:nvPr/>
        </p:nvSpPr>
        <p:spPr>
          <a:xfrm>
            <a:off x="4714875" y="4764630"/>
            <a:ext cx="2016491" cy="275034"/>
          </a:xfrm>
          <a:prstGeom prst="rect">
            <a:avLst/>
          </a:prstGeom>
          <a:solidFill>
            <a:srgbClr val="F0F7FF"/>
          </a:solidFill>
          <a:ln/>
        </p:spPr>
      </p:sp>
      <p:pic>
        <p:nvPicPr>
          <p:cNvPr id="62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800600" y="4852141"/>
            <a:ext cx="112514" cy="100013"/>
          </a:xfrm>
          <a:prstGeom prst="rect">
            <a:avLst/>
          </a:prstGeom>
        </p:spPr>
      </p:pic>
      <p:sp>
        <p:nvSpPr>
          <p:cNvPr id="63" name="Text 45"/>
          <p:cNvSpPr/>
          <p:nvPr/>
        </p:nvSpPr>
        <p:spPr>
          <a:xfrm>
            <a:off x="4955977" y="4821780"/>
            <a:ext cx="1689664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5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Detailed reasoning for each score</a:t>
            </a:r>
            <a:endParaRPr lang="en-US" sz="785" dirty="0"/>
          </a:p>
        </p:txBody>
      </p:sp>
      <p:sp>
        <p:nvSpPr>
          <p:cNvPr id="64" name="Shape 46"/>
          <p:cNvSpPr/>
          <p:nvPr/>
        </p:nvSpPr>
        <p:spPr>
          <a:xfrm>
            <a:off x="4714875" y="5111102"/>
            <a:ext cx="2347922" cy="275034"/>
          </a:xfrm>
          <a:prstGeom prst="rect">
            <a:avLst/>
          </a:prstGeom>
          <a:solidFill>
            <a:srgbClr val="F0F7FF"/>
          </a:solidFill>
          <a:ln/>
        </p:spPr>
      </p:sp>
      <p:pic>
        <p:nvPicPr>
          <p:cNvPr id="65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800600" y="5198613"/>
            <a:ext cx="112514" cy="100013"/>
          </a:xfrm>
          <a:prstGeom prst="rect">
            <a:avLst/>
          </a:prstGeom>
        </p:spPr>
      </p:pic>
      <p:sp>
        <p:nvSpPr>
          <p:cNvPr id="66" name="Text 47"/>
          <p:cNvSpPr/>
          <p:nvPr/>
        </p:nvSpPr>
        <p:spPr>
          <a:xfrm>
            <a:off x="4955977" y="5168252"/>
            <a:ext cx="2021095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5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Batch processing for efficient evaluation</a:t>
            </a:r>
            <a:endParaRPr lang="en-US" sz="785" dirty="0"/>
          </a:p>
        </p:txBody>
      </p:sp>
      <p:sp>
        <p:nvSpPr>
          <p:cNvPr id="67" name="Text 48"/>
          <p:cNvSpPr/>
          <p:nvPr/>
        </p:nvSpPr>
        <p:spPr>
          <a:xfrm>
            <a:off x="285750" y="5879306"/>
            <a:ext cx="218478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Engine-Agnostic ML Pipeline with RAG Support</a:t>
            </a:r>
            <a:endParaRPr lang="en-US" sz="732" dirty="0"/>
          </a:p>
        </p:txBody>
      </p:sp>
      <p:sp>
        <p:nvSpPr>
          <p:cNvPr id="68" name="Text 49"/>
          <p:cNvSpPr/>
          <p:nvPr/>
        </p:nvSpPr>
        <p:spPr>
          <a:xfrm>
            <a:off x="7606392" y="5879306"/>
            <a:ext cx="125185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Comprehensive Evaluation</a:t>
            </a:r>
            <a:endParaRPr lang="en-US" sz="732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30066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2950843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025" b="1" dirty="0">
                <a:solidFill>
                  <a:srgbClr val="0066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Demonstration Results</a:t>
            </a:r>
            <a:endParaRPr lang="en-US" sz="2025" dirty="0"/>
          </a:p>
        </p:txBody>
      </p:sp>
      <p:sp>
        <p:nvSpPr>
          <p:cNvPr id="4" name="Text 1"/>
          <p:cNvSpPr/>
          <p:nvPr/>
        </p:nvSpPr>
        <p:spPr>
          <a:xfrm>
            <a:off x="285750" y="814388"/>
            <a:ext cx="41433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066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Performance Metrics</a:t>
            </a:r>
            <a:endParaRPr lang="en-US" sz="13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1178719"/>
            <a:ext cx="4143375" cy="22860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285750" y="3571875"/>
            <a:ext cx="4143375" cy="1078706"/>
          </a:xfrm>
          <a:prstGeom prst="rect">
            <a:avLst/>
          </a:prstGeom>
          <a:solidFill>
            <a:srgbClr val="F0F7FF"/>
          </a:solidFill>
          <a:ln/>
        </p:spPr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906" y="3711178"/>
            <a:ext cx="128588" cy="12858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78644" y="3679031"/>
            <a:ext cx="1380139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0066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Test Results Summary</a:t>
            </a:r>
            <a:endParaRPr lang="en-US" sz="942" dirty="0"/>
          </a:p>
        </p:txBody>
      </p:sp>
      <p:sp>
        <p:nvSpPr>
          <p:cNvPr id="9" name="Shape 4"/>
          <p:cNvSpPr/>
          <p:nvPr/>
        </p:nvSpPr>
        <p:spPr>
          <a:xfrm>
            <a:off x="392906" y="3943350"/>
            <a:ext cx="1341658" cy="228600"/>
          </a:xfrm>
          <a:prstGeom prst="roundRect">
            <a:avLst/>
          </a:prstGeom>
          <a:solidFill>
            <a:srgbClr val="E0F0FF"/>
          </a:solidFill>
          <a:ln/>
        </p:spPr>
      </p:sp>
      <p:sp>
        <p:nvSpPr>
          <p:cNvPr id="10" name="Text 5"/>
          <p:cNvSpPr/>
          <p:nvPr/>
        </p:nvSpPr>
        <p:spPr>
          <a:xfrm>
            <a:off x="478631" y="3982641"/>
            <a:ext cx="77919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b="1" dirty="0">
                <a:solidFill>
                  <a:srgbClr val="0066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Combined Score </a:t>
            </a:r>
            <a:endParaRPr lang="en-US" sz="732" dirty="0"/>
          </a:p>
        </p:txBody>
      </p:sp>
      <p:sp>
        <p:nvSpPr>
          <p:cNvPr id="11" name="Shape 6"/>
          <p:cNvSpPr/>
          <p:nvPr/>
        </p:nvSpPr>
        <p:spPr>
          <a:xfrm>
            <a:off x="1314980" y="3979069"/>
            <a:ext cx="333859" cy="157163"/>
          </a:xfrm>
          <a:prstGeom prst="roundRect">
            <a:avLst/>
          </a:prstGeom>
          <a:solidFill>
            <a:srgbClr val="0066CC"/>
          </a:solidFill>
          <a:ln/>
        </p:spPr>
      </p:sp>
      <p:sp>
        <p:nvSpPr>
          <p:cNvPr id="12" name="Text 7"/>
          <p:cNvSpPr/>
          <p:nvPr/>
        </p:nvSpPr>
        <p:spPr>
          <a:xfrm>
            <a:off x="1314980" y="3979069"/>
            <a:ext cx="333859" cy="157163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ctr">
            <a:spAutoFit/>
          </a:bodyPr>
          <a:lstStyle/>
          <a:p>
            <a:pPr indent="0" marL="0">
              <a:buNone/>
            </a:pPr>
            <a:r>
              <a:rPr lang="en-US" sz="628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0.840</a:t>
            </a:r>
            <a:endParaRPr lang="en-US" sz="628" dirty="0"/>
          </a:p>
        </p:txBody>
      </p:sp>
      <p:sp>
        <p:nvSpPr>
          <p:cNvPr id="13" name="Shape 8"/>
          <p:cNvSpPr/>
          <p:nvPr/>
        </p:nvSpPr>
        <p:spPr>
          <a:xfrm>
            <a:off x="1806001" y="3943350"/>
            <a:ext cx="1050522" cy="228600"/>
          </a:xfrm>
          <a:prstGeom prst="roundRect">
            <a:avLst/>
          </a:prstGeom>
          <a:solidFill>
            <a:srgbClr val="E0F0FF"/>
          </a:solidFill>
          <a:ln/>
        </p:spPr>
      </p:sp>
      <p:sp>
        <p:nvSpPr>
          <p:cNvPr id="14" name="Text 9"/>
          <p:cNvSpPr/>
          <p:nvPr/>
        </p:nvSpPr>
        <p:spPr>
          <a:xfrm>
            <a:off x="1891726" y="3982641"/>
            <a:ext cx="48806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b="1" dirty="0">
                <a:solidFill>
                  <a:srgbClr val="0066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RAG Score </a:t>
            </a:r>
            <a:endParaRPr lang="en-US" sz="732" dirty="0"/>
          </a:p>
        </p:txBody>
      </p:sp>
      <p:sp>
        <p:nvSpPr>
          <p:cNvPr id="15" name="Shape 10"/>
          <p:cNvSpPr/>
          <p:nvPr/>
        </p:nvSpPr>
        <p:spPr>
          <a:xfrm>
            <a:off x="2436940" y="3979069"/>
            <a:ext cx="333859" cy="157163"/>
          </a:xfrm>
          <a:prstGeom prst="roundRect">
            <a:avLst/>
          </a:prstGeom>
          <a:solidFill>
            <a:srgbClr val="0066CC"/>
          </a:solidFill>
          <a:ln/>
        </p:spPr>
      </p:sp>
      <p:sp>
        <p:nvSpPr>
          <p:cNvPr id="16" name="Text 11"/>
          <p:cNvSpPr/>
          <p:nvPr/>
        </p:nvSpPr>
        <p:spPr>
          <a:xfrm>
            <a:off x="2436940" y="3979069"/>
            <a:ext cx="333859" cy="157163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ctr">
            <a:spAutoFit/>
          </a:bodyPr>
          <a:lstStyle/>
          <a:p>
            <a:pPr indent="0" marL="0">
              <a:buNone/>
            </a:pPr>
            <a:r>
              <a:rPr lang="en-US" sz="628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0.800</a:t>
            </a:r>
            <a:endParaRPr lang="en-US" sz="628" dirty="0"/>
          </a:p>
        </p:txBody>
      </p:sp>
      <p:sp>
        <p:nvSpPr>
          <p:cNvPr id="17" name="Shape 12"/>
          <p:cNvSpPr/>
          <p:nvPr/>
        </p:nvSpPr>
        <p:spPr>
          <a:xfrm>
            <a:off x="2927961" y="3943350"/>
            <a:ext cx="1094529" cy="228600"/>
          </a:xfrm>
          <a:prstGeom prst="roundRect">
            <a:avLst/>
          </a:prstGeom>
          <a:solidFill>
            <a:srgbClr val="E0F0FF"/>
          </a:solidFill>
          <a:ln/>
        </p:spPr>
      </p:sp>
      <p:sp>
        <p:nvSpPr>
          <p:cNvPr id="18" name="Text 13"/>
          <p:cNvSpPr/>
          <p:nvPr/>
        </p:nvSpPr>
        <p:spPr>
          <a:xfrm>
            <a:off x="3013686" y="3982641"/>
            <a:ext cx="53207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b="1" dirty="0">
                <a:solidFill>
                  <a:srgbClr val="0066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Code Score </a:t>
            </a:r>
            <a:endParaRPr lang="en-US" sz="732" dirty="0"/>
          </a:p>
        </p:txBody>
      </p:sp>
      <p:sp>
        <p:nvSpPr>
          <p:cNvPr id="19" name="Shape 14"/>
          <p:cNvSpPr/>
          <p:nvPr/>
        </p:nvSpPr>
        <p:spPr>
          <a:xfrm>
            <a:off x="3602906" y="3979069"/>
            <a:ext cx="333859" cy="157163"/>
          </a:xfrm>
          <a:prstGeom prst="roundRect">
            <a:avLst/>
          </a:prstGeom>
          <a:solidFill>
            <a:srgbClr val="0066CC"/>
          </a:solidFill>
          <a:ln/>
        </p:spPr>
      </p:sp>
      <p:sp>
        <p:nvSpPr>
          <p:cNvPr id="20" name="Text 15"/>
          <p:cNvSpPr/>
          <p:nvPr/>
        </p:nvSpPr>
        <p:spPr>
          <a:xfrm>
            <a:off x="3602906" y="3979069"/>
            <a:ext cx="333859" cy="157163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ctr">
            <a:spAutoFit/>
          </a:bodyPr>
          <a:lstStyle/>
          <a:p>
            <a:pPr indent="0" marL="0">
              <a:buNone/>
            </a:pPr>
            <a:r>
              <a:rPr lang="en-US" sz="628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0.875</a:t>
            </a:r>
            <a:endParaRPr lang="en-US" sz="628" dirty="0"/>
          </a:p>
        </p:txBody>
      </p:sp>
      <p:sp>
        <p:nvSpPr>
          <p:cNvPr id="21" name="Shape 16"/>
          <p:cNvSpPr/>
          <p:nvPr/>
        </p:nvSpPr>
        <p:spPr>
          <a:xfrm>
            <a:off x="392906" y="4243388"/>
            <a:ext cx="1208215" cy="228600"/>
          </a:xfrm>
          <a:prstGeom prst="roundRect">
            <a:avLst/>
          </a:prstGeom>
          <a:solidFill>
            <a:srgbClr val="E0F0FF"/>
          </a:solidFill>
          <a:ln/>
        </p:spPr>
      </p:sp>
      <p:sp>
        <p:nvSpPr>
          <p:cNvPr id="22" name="Text 17"/>
          <p:cNvSpPr/>
          <p:nvPr/>
        </p:nvSpPr>
        <p:spPr>
          <a:xfrm>
            <a:off x="478631" y="4282678"/>
            <a:ext cx="65329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b="1" dirty="0">
                <a:solidFill>
                  <a:srgbClr val="0066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Training Time </a:t>
            </a:r>
            <a:endParaRPr lang="en-US" sz="732" dirty="0"/>
          </a:p>
        </p:txBody>
      </p:sp>
      <p:sp>
        <p:nvSpPr>
          <p:cNvPr id="23" name="Shape 18"/>
          <p:cNvSpPr/>
          <p:nvPr/>
        </p:nvSpPr>
        <p:spPr>
          <a:xfrm>
            <a:off x="1189072" y="4279106"/>
            <a:ext cx="326324" cy="157163"/>
          </a:xfrm>
          <a:prstGeom prst="roundRect">
            <a:avLst/>
          </a:prstGeom>
          <a:solidFill>
            <a:srgbClr val="0066CC"/>
          </a:solidFill>
          <a:ln/>
        </p:spPr>
      </p:sp>
      <p:sp>
        <p:nvSpPr>
          <p:cNvPr id="24" name="Text 19"/>
          <p:cNvSpPr/>
          <p:nvPr/>
        </p:nvSpPr>
        <p:spPr>
          <a:xfrm>
            <a:off x="1189072" y="4279106"/>
            <a:ext cx="326324" cy="157163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ctr">
            <a:spAutoFit/>
          </a:bodyPr>
          <a:lstStyle/>
          <a:p>
            <a:pPr indent="0" marL="0">
              <a:buNone/>
            </a:pPr>
            <a:r>
              <a:rPr lang="en-US" sz="628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2.00s</a:t>
            </a:r>
            <a:endParaRPr lang="en-US" sz="628" dirty="0"/>
          </a:p>
        </p:txBody>
      </p:sp>
      <p:sp>
        <p:nvSpPr>
          <p:cNvPr id="25" name="Text 20"/>
          <p:cNvSpPr/>
          <p:nvPr/>
        </p:nvSpPr>
        <p:spPr>
          <a:xfrm>
            <a:off x="4714875" y="814388"/>
            <a:ext cx="41433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066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Sample Demonstration</a:t>
            </a:r>
            <a:endParaRPr lang="en-US" sz="1350" dirty="0"/>
          </a:p>
        </p:txBody>
      </p:sp>
      <p:sp>
        <p:nvSpPr>
          <p:cNvPr id="26" name="Shape 21"/>
          <p:cNvSpPr/>
          <p:nvPr/>
        </p:nvSpPr>
        <p:spPr>
          <a:xfrm>
            <a:off x="4714875" y="1178719"/>
            <a:ext cx="4143375" cy="332184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7" name="Text 22"/>
          <p:cNvSpPr/>
          <p:nvPr/>
        </p:nvSpPr>
        <p:spPr>
          <a:xfrm>
            <a:off x="4800600" y="1271588"/>
            <a:ext cx="359197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5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Query:</a:t>
            </a:r>
            <a:endParaRPr lang="en-US" sz="785" dirty="0"/>
          </a:p>
        </p:txBody>
      </p:sp>
      <p:sp>
        <p:nvSpPr>
          <p:cNvPr id="28" name="Text 23"/>
          <p:cNvSpPr/>
          <p:nvPr/>
        </p:nvSpPr>
        <p:spPr>
          <a:xfrm>
            <a:off x="5159797" y="1271588"/>
            <a:ext cx="2664340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5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How do I create a function to multiply two numbers? </a:t>
            </a:r>
            <a:endParaRPr lang="en-US" sz="785" dirty="0"/>
          </a:p>
        </p:txBody>
      </p:sp>
      <p:sp>
        <p:nvSpPr>
          <p:cNvPr id="29" name="Shape 24"/>
          <p:cNvSpPr/>
          <p:nvPr/>
        </p:nvSpPr>
        <p:spPr>
          <a:xfrm>
            <a:off x="4714875" y="1582341"/>
            <a:ext cx="4143375" cy="492919"/>
          </a:xfrm>
          <a:prstGeom prst="rect">
            <a:avLst/>
          </a:prstGeom>
          <a:solidFill>
            <a:srgbClr val="FFF9F0"/>
          </a:solidFill>
          <a:ln/>
        </p:spPr>
      </p:sp>
      <p:sp>
        <p:nvSpPr>
          <p:cNvPr id="30" name="Shape 25"/>
          <p:cNvSpPr/>
          <p:nvPr/>
        </p:nvSpPr>
        <p:spPr>
          <a:xfrm>
            <a:off x="4714875" y="1582341"/>
            <a:ext cx="28575" cy="492919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1" name="Text 26"/>
          <p:cNvSpPr/>
          <p:nvPr/>
        </p:nvSpPr>
        <p:spPr>
          <a:xfrm>
            <a:off x="4714875" y="1582341"/>
            <a:ext cx="4143375" cy="492919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indent="0" marL="0">
              <a:buNone/>
            </a:pPr>
            <a:r>
              <a:rPr lang="en-US" sz="785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def multiply(a, b): """ Multiply two numbers and return the result. Args: a: First number b: Second number Returns: The product of a and b """ return a * b </a:t>
            </a:r>
            <a:endParaRPr lang="en-US" sz="785" dirty="0"/>
          </a:p>
        </p:txBody>
      </p:sp>
      <p:sp>
        <p:nvSpPr>
          <p:cNvPr id="32" name="Text 27"/>
          <p:cNvSpPr/>
          <p:nvPr/>
        </p:nvSpPr>
        <p:spPr>
          <a:xfrm>
            <a:off x="4714875" y="2182416"/>
            <a:ext cx="41433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066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Key Achievements</a:t>
            </a:r>
            <a:endParaRPr lang="en-US" sz="1350" dirty="0"/>
          </a:p>
        </p:txBody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4875" y="2593181"/>
            <a:ext cx="128588" cy="128588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4914900" y="2553891"/>
            <a:ext cx="139984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Backward Compatibility:</a:t>
            </a:r>
            <a:endParaRPr lang="en-US" sz="837" dirty="0"/>
          </a:p>
        </p:txBody>
      </p:sp>
      <p:sp>
        <p:nvSpPr>
          <p:cNvPr id="35" name="Text 29"/>
          <p:cNvSpPr/>
          <p:nvPr/>
        </p:nvSpPr>
        <p:spPr>
          <a:xfrm>
            <a:off x="6314740" y="2553891"/>
            <a:ext cx="225103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Maintained all existing functionality while </a:t>
            </a:r>
            <a:endParaRPr lang="en-US" sz="837" dirty="0"/>
          </a:p>
        </p:txBody>
      </p:sp>
      <p:sp>
        <p:nvSpPr>
          <p:cNvPr id="36" name="Text 30"/>
          <p:cNvSpPr/>
          <p:nvPr/>
        </p:nvSpPr>
        <p:spPr>
          <a:xfrm>
            <a:off x="4914900" y="2725341"/>
            <a:ext cx="126176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adding RAG capabilities </a:t>
            </a:r>
            <a:endParaRPr lang="en-US" sz="837" dirty="0"/>
          </a:p>
        </p:txBody>
      </p:sp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4875" y="3021806"/>
            <a:ext cx="128588" cy="128588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4914900" y="2982516"/>
            <a:ext cx="131193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CPU-Optimized Design:</a:t>
            </a:r>
            <a:endParaRPr lang="en-US" sz="837" dirty="0"/>
          </a:p>
        </p:txBody>
      </p:sp>
      <p:sp>
        <p:nvSpPr>
          <p:cNvPr id="39" name="Text 32"/>
          <p:cNvSpPr/>
          <p:nvPr/>
        </p:nvSpPr>
        <p:spPr>
          <a:xfrm>
            <a:off x="6226839" y="2982516"/>
            <a:ext cx="231080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Efficient implementation for environments </a:t>
            </a:r>
            <a:endParaRPr lang="en-US" sz="837" dirty="0"/>
          </a:p>
        </p:txBody>
      </p:sp>
      <p:sp>
        <p:nvSpPr>
          <p:cNvPr id="40" name="Text 33"/>
          <p:cNvSpPr/>
          <p:nvPr/>
        </p:nvSpPr>
        <p:spPr>
          <a:xfrm>
            <a:off x="4914900" y="3153966"/>
            <a:ext cx="105546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without GPU access </a:t>
            </a:r>
            <a:endParaRPr lang="en-US" sz="837" dirty="0"/>
          </a:p>
        </p:txBody>
      </p:sp>
      <p:pic>
        <p:nvPicPr>
          <p:cNvPr id="4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14875" y="3450431"/>
            <a:ext cx="128588" cy="128588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4914900" y="3411141"/>
            <a:ext cx="155700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Comprehensive Evaluation:</a:t>
            </a:r>
            <a:endParaRPr lang="en-US" sz="837" dirty="0"/>
          </a:p>
        </p:txBody>
      </p:sp>
      <p:sp>
        <p:nvSpPr>
          <p:cNvPr id="43" name="Text 35"/>
          <p:cNvSpPr/>
          <p:nvPr/>
        </p:nvSpPr>
        <p:spPr>
          <a:xfrm>
            <a:off x="6471903" y="3411141"/>
            <a:ext cx="208003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Robust metrics for both RAG and code </a:t>
            </a:r>
            <a:endParaRPr lang="en-US" sz="837" dirty="0"/>
          </a:p>
        </p:txBody>
      </p:sp>
      <p:sp>
        <p:nvSpPr>
          <p:cNvPr id="44" name="Text 36"/>
          <p:cNvSpPr/>
          <p:nvPr/>
        </p:nvSpPr>
        <p:spPr>
          <a:xfrm>
            <a:off x="4914900" y="3582591"/>
            <a:ext cx="98276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generation quality </a:t>
            </a:r>
            <a:endParaRPr lang="en-US" sz="837" dirty="0"/>
          </a:p>
        </p:txBody>
      </p:sp>
      <p:pic>
        <p:nvPicPr>
          <p:cNvPr id="4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14875" y="3879056"/>
            <a:ext cx="128588" cy="128588"/>
          </a:xfrm>
          <a:prstGeom prst="rect">
            <a:avLst/>
          </a:prstGeom>
        </p:spPr>
      </p:pic>
      <p:sp>
        <p:nvSpPr>
          <p:cNvPr id="46" name="Text 37"/>
          <p:cNvSpPr/>
          <p:nvPr/>
        </p:nvSpPr>
        <p:spPr>
          <a:xfrm>
            <a:off x="4914900" y="3839766"/>
            <a:ext cx="179213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Production-Ready Architecture:</a:t>
            </a:r>
            <a:endParaRPr lang="en-US" sz="837" dirty="0"/>
          </a:p>
        </p:txBody>
      </p:sp>
      <p:sp>
        <p:nvSpPr>
          <p:cNvPr id="47" name="Text 38"/>
          <p:cNvSpPr/>
          <p:nvPr/>
        </p:nvSpPr>
        <p:spPr>
          <a:xfrm>
            <a:off x="6707032" y="3839766"/>
            <a:ext cx="201397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Security scanning, SBOM generation, </a:t>
            </a:r>
            <a:endParaRPr lang="en-US" sz="837" dirty="0"/>
          </a:p>
        </p:txBody>
      </p:sp>
      <p:sp>
        <p:nvSpPr>
          <p:cNvPr id="48" name="Text 39"/>
          <p:cNvSpPr/>
          <p:nvPr/>
        </p:nvSpPr>
        <p:spPr>
          <a:xfrm>
            <a:off x="4914900" y="4011216"/>
            <a:ext cx="159905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and Hugging Face integration </a:t>
            </a:r>
            <a:endParaRPr lang="en-US" sz="837" dirty="0"/>
          </a:p>
        </p:txBody>
      </p:sp>
      <p:pic>
        <p:nvPicPr>
          <p:cNvPr id="4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14875" y="4307681"/>
            <a:ext cx="128588" cy="128588"/>
          </a:xfrm>
          <a:prstGeom prst="rect">
            <a:avLst/>
          </a:prstGeom>
        </p:spPr>
      </p:pic>
      <p:sp>
        <p:nvSpPr>
          <p:cNvPr id="50" name="Text 40"/>
          <p:cNvSpPr/>
          <p:nvPr/>
        </p:nvSpPr>
        <p:spPr>
          <a:xfrm>
            <a:off x="4914900" y="4268391"/>
            <a:ext cx="124530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Multi-Engine Support:</a:t>
            </a:r>
            <a:endParaRPr lang="en-US" sz="837" dirty="0"/>
          </a:p>
        </p:txBody>
      </p:sp>
      <p:sp>
        <p:nvSpPr>
          <p:cNvPr id="51" name="Text 41"/>
          <p:cNvSpPr/>
          <p:nvPr/>
        </p:nvSpPr>
        <p:spPr>
          <a:xfrm>
            <a:off x="6160201" y="4268391"/>
            <a:ext cx="262365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Consistent interface across Dask, Spark, and Ray </a:t>
            </a:r>
            <a:endParaRPr lang="en-US" sz="837" dirty="0"/>
          </a:p>
        </p:txBody>
      </p:sp>
      <p:sp>
        <p:nvSpPr>
          <p:cNvPr id="52" name="Text 42"/>
          <p:cNvSpPr/>
          <p:nvPr/>
        </p:nvSpPr>
        <p:spPr>
          <a:xfrm>
            <a:off x="4914900" y="4439841"/>
            <a:ext cx="42474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engines </a:t>
            </a:r>
            <a:endParaRPr lang="en-US" sz="837" dirty="0"/>
          </a:p>
        </p:txBody>
      </p:sp>
      <p:sp>
        <p:nvSpPr>
          <p:cNvPr id="53" name="Text 43"/>
          <p:cNvSpPr/>
          <p:nvPr/>
        </p:nvSpPr>
        <p:spPr>
          <a:xfrm>
            <a:off x="285750" y="4864894"/>
            <a:ext cx="218478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Engine-Agnostic ML Pipeline with RAG Support</a:t>
            </a:r>
            <a:endParaRPr lang="en-US" sz="732" dirty="0"/>
          </a:p>
        </p:txBody>
      </p:sp>
      <p:sp>
        <p:nvSpPr>
          <p:cNvPr id="54" name="Text 44"/>
          <p:cNvSpPr/>
          <p:nvPr/>
        </p:nvSpPr>
        <p:spPr>
          <a:xfrm>
            <a:off x="7785209" y="4864894"/>
            <a:ext cx="107304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Demonstration Results</a:t>
            </a:r>
            <a:endParaRPr lang="en-US" sz="732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2025-09-06T17:03:07Z</dcterms:created>
  <dcterms:modified xsi:type="dcterms:W3CDTF">2025-09-06T17:03:07Z</dcterms:modified>
</cp:coreProperties>
</file>